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11E809-EE4A-3F65-F676-99AE6AC2B4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50DE492E-19EC-9531-677E-19837D3F1F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076A521-F89F-7C7C-7935-CDB79AD0E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3E772-E094-2242-AA8B-E9F781A5264C}" type="datetimeFigureOut">
              <a:rPr lang="nl-NL" smtClean="0"/>
              <a:t>24-06-2026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2A6A5684-A3D6-3898-33C6-6DCE1E6DA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A8B0F92-9098-6F19-56FA-F323D203B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5E50-A3E8-AF4C-9162-F19D275EE96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65614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33C596-CD26-7964-EC67-0C7F7188E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685B0A8-6FBC-F0A1-353F-4ADD964F7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F86009B-8A02-3A94-A0C6-4E27AACA7F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3E772-E094-2242-AA8B-E9F781A5264C}" type="datetimeFigureOut">
              <a:rPr lang="nl-NL" smtClean="0"/>
              <a:t>24-06-2026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C9E8531-FF42-97DC-055A-34B12F0B3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83F393E-FD2B-65AC-5F38-81FAE0B8AF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5E50-A3E8-AF4C-9162-F19D275EE96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802483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34C9A8-D0BB-38FA-F127-16A3C58D4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3E99170-D6C0-2090-479E-CE38B63C11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12FED8E-55C8-3AFC-478C-7A24781BD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3E772-E094-2242-AA8B-E9F781A5264C}" type="datetimeFigureOut">
              <a:rPr lang="nl-NL" smtClean="0"/>
              <a:t>24-06-2026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9EC30DA-BF80-2B87-2348-BB9EC2F7F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E75F565-0060-1CBB-9D1E-0D89728D2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5E50-A3E8-AF4C-9162-F19D275EE96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88546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AB13A11-7FE5-4E85-3EE9-2F41EE969D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514DD673-0C4F-B793-89EF-BAE2B426D2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C7B5C3CD-B352-3FC9-20A4-0FBEA385FB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BD87D73E-9CAB-F926-7133-DA0655B92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3E772-E094-2242-AA8B-E9F781A5264C}" type="datetimeFigureOut">
              <a:rPr lang="nl-NL" smtClean="0"/>
              <a:t>24-06-2026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B96C576E-ED2C-157B-6139-A1AB38977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20785F62-9F01-B7B8-D0AA-9E4AD8531C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5E50-A3E8-AF4C-9162-F19D275EE96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67742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208D97-5978-4A55-9399-4AAAC4560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99199D1-CE51-BAD5-2489-A54B501841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24E48BF-132F-3E00-E72F-53EE03D338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0A10F0A-A203-7754-E174-E53A410244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6BD9711D-801B-EAFD-0AE0-9E2DF049D0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F39042F9-805B-8A09-E702-CDADA8CD8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3E772-E094-2242-AA8B-E9F781A5264C}" type="datetimeFigureOut">
              <a:rPr lang="nl-NL" smtClean="0"/>
              <a:t>24-06-2026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7CA64A1F-959C-6FD3-553E-42E21F039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AF300EA2-7BA9-6196-5F2E-A9FB3004D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5E50-A3E8-AF4C-9162-F19D275EE96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09844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1724E49-925C-FE5D-DB24-7E9057750B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9AB271E3-7E3A-8513-4973-6C00F996E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3E772-E094-2242-AA8B-E9F781A5264C}" type="datetimeFigureOut">
              <a:rPr lang="nl-NL" smtClean="0"/>
              <a:t>24-06-2026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227BF8FC-7092-DEAD-3FC2-6B6F62C39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7DBA055B-96C7-94FF-55C1-059F620DA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5E50-A3E8-AF4C-9162-F19D275EE96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105728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83EF9F97-5912-F2ED-15AA-F4E7E34D29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3E772-E094-2242-AA8B-E9F781A5264C}" type="datetimeFigureOut">
              <a:rPr lang="nl-NL" smtClean="0"/>
              <a:t>24-06-2026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6BB0E530-0FEE-CC01-CB30-3D1F91055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036DA228-056A-8B36-ADCB-7079C213C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5E50-A3E8-AF4C-9162-F19D275EE96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75025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5E458D1-A4FD-54E3-49EE-E0108EC4CF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4A641E9-3DF6-E7F6-3354-41529F08C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54429209-167E-8C92-2C13-E87DA16053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DA1B36ED-B352-3BC8-1FD6-70753EBA1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3E772-E094-2242-AA8B-E9F781A5264C}" type="datetimeFigureOut">
              <a:rPr lang="nl-NL" smtClean="0"/>
              <a:t>24-06-2026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3DD3A196-5DFB-DD9A-9519-52CFB1D4A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47706223-D7EB-9013-C527-CCE8CD7C3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5E50-A3E8-AF4C-9162-F19D275EE96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44461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7C3CAF3-5B9E-6939-2FF7-1CA3A0AAC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A5B940D3-3109-F793-84C0-0CA006EBB20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8CB4FA5-03CE-CF88-57CB-A20585B79A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FFB6A09-07F8-853F-D74B-6E78CAF66D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3E772-E094-2242-AA8B-E9F781A5264C}" type="datetimeFigureOut">
              <a:rPr lang="nl-NL" smtClean="0"/>
              <a:t>24-06-2026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1CBCF3E1-8C05-B381-CD4D-57CE8AA1A4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72ECB600-65DD-A93F-BC61-D0D247DC9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5E50-A3E8-AF4C-9162-F19D275EE96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669572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CC3D3B1-013B-68F1-C834-6A9D6639C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7618CAFE-22AD-0A52-A6EA-EF48D6CA29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F8B2E93-C725-B4ED-F01A-9F0E5EA85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3E772-E094-2242-AA8B-E9F781A5264C}" type="datetimeFigureOut">
              <a:rPr lang="nl-NL" smtClean="0"/>
              <a:t>24-06-2026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30A6C94-80E9-DD69-AD47-27D9BA302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6F79BC9-E487-FCA8-5506-7D011A878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5E50-A3E8-AF4C-9162-F19D275EE96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862059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9CE1F3B1-777F-4F34-10B8-9DC35BB549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08735E58-2E94-CDFC-6445-2493DC469E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A1222CC-574B-EB85-6C02-F6A624512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83E772-E094-2242-AA8B-E9F781A5264C}" type="datetimeFigureOut">
              <a:rPr lang="nl-NL" smtClean="0"/>
              <a:t>24-06-2026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E503E70F-EA25-66A7-E1FF-E30E6570B3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F83F980-6836-31FB-2E6B-9490AFCB91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165E50-A3E8-AF4C-9162-F19D275EE96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01046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332A4FD5-D014-EEE1-8C05-1F433185B2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3DA20DF9-06CD-CA3C-C660-0CAAAE6E51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5CD7751A-0F31-6694-8732-58439C7C7F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83E772-E094-2242-AA8B-E9F781A5264C}" type="datetimeFigureOut">
              <a:rPr lang="nl-NL" smtClean="0"/>
              <a:t>24-06-2026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4D1DFD5-42B0-8824-A781-DBE1C41084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71A2F25-39EF-C4AB-E9FE-663CD3AC02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165E50-A3E8-AF4C-9162-F19D275EE963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83936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hoek 3">
            <a:extLst>
              <a:ext uri="{FF2B5EF4-FFF2-40B4-BE49-F238E27FC236}">
                <a16:creationId xmlns:a16="http://schemas.microsoft.com/office/drawing/2014/main" id="{F7B7FECF-3CF0-EB78-4429-13A8A528DD02}"/>
              </a:ext>
            </a:extLst>
          </p:cNvPr>
          <p:cNvSpPr/>
          <p:nvPr/>
        </p:nvSpPr>
        <p:spPr>
          <a:xfrm>
            <a:off x="6096213" y="4431043"/>
            <a:ext cx="1575621" cy="667081"/>
          </a:xfrm>
          <a:prstGeom prst="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/>
              <a:t>Inwonerportaal</a:t>
            </a:r>
          </a:p>
          <a:p>
            <a:pPr algn="ctr"/>
            <a:r>
              <a:rPr lang="nl-NL" sz="1400" dirty="0" err="1"/>
              <a:t>Verius</a:t>
            </a:r>
            <a:r>
              <a:rPr lang="nl-NL" sz="1400" dirty="0"/>
              <a:t> Samen</a:t>
            </a:r>
          </a:p>
        </p:txBody>
      </p:sp>
      <p:sp>
        <p:nvSpPr>
          <p:cNvPr id="5" name="Rechthoek 4">
            <a:extLst>
              <a:ext uri="{FF2B5EF4-FFF2-40B4-BE49-F238E27FC236}">
                <a16:creationId xmlns:a16="http://schemas.microsoft.com/office/drawing/2014/main" id="{E0D56940-B9B9-7A30-EE16-BD5002CF4B0B}"/>
              </a:ext>
            </a:extLst>
          </p:cNvPr>
          <p:cNvSpPr/>
          <p:nvPr/>
        </p:nvSpPr>
        <p:spPr>
          <a:xfrm>
            <a:off x="9451806" y="4431043"/>
            <a:ext cx="1575621" cy="667081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solidFill>
                  <a:schemeClr val="tx2"/>
                </a:solidFill>
              </a:rPr>
              <a:t>Inwonerportaal</a:t>
            </a:r>
          </a:p>
          <a:p>
            <a:pPr algn="ctr"/>
            <a:r>
              <a:rPr lang="nl-NL" sz="1400" dirty="0">
                <a:solidFill>
                  <a:schemeClr val="tx2"/>
                </a:solidFill>
              </a:rPr>
              <a:t>X-Works</a:t>
            </a:r>
          </a:p>
        </p:txBody>
      </p:sp>
      <p:sp>
        <p:nvSpPr>
          <p:cNvPr id="6" name="Rechthoek 5">
            <a:extLst>
              <a:ext uri="{FF2B5EF4-FFF2-40B4-BE49-F238E27FC236}">
                <a16:creationId xmlns:a16="http://schemas.microsoft.com/office/drawing/2014/main" id="{EDEED433-9E84-C49E-A26B-5244610BC3AE}"/>
              </a:ext>
            </a:extLst>
          </p:cNvPr>
          <p:cNvSpPr/>
          <p:nvPr/>
        </p:nvSpPr>
        <p:spPr>
          <a:xfrm>
            <a:off x="9451809" y="5558841"/>
            <a:ext cx="1575621" cy="667081"/>
          </a:xfrm>
          <a:prstGeom prst="rect">
            <a:avLst/>
          </a:prstGeom>
          <a:solidFill>
            <a:srgbClr val="FFFF00"/>
          </a:solidFill>
          <a:ln>
            <a:solidFill>
              <a:srgbClr val="FFC000"/>
            </a:solidFill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solidFill>
                  <a:schemeClr val="tx2"/>
                </a:solidFill>
              </a:rPr>
              <a:t>X-Works</a:t>
            </a:r>
          </a:p>
        </p:txBody>
      </p:sp>
      <p:sp>
        <p:nvSpPr>
          <p:cNvPr id="7" name="Ovaal 6">
            <a:extLst>
              <a:ext uri="{FF2B5EF4-FFF2-40B4-BE49-F238E27FC236}">
                <a16:creationId xmlns:a16="http://schemas.microsoft.com/office/drawing/2014/main" id="{4A76C6DE-CAC4-605A-04BF-667A4DAE29B5}"/>
              </a:ext>
            </a:extLst>
          </p:cNvPr>
          <p:cNvSpPr/>
          <p:nvPr/>
        </p:nvSpPr>
        <p:spPr>
          <a:xfrm>
            <a:off x="542260" y="712381"/>
            <a:ext cx="1967024" cy="818707"/>
          </a:xfrm>
          <a:prstGeom prst="ellipse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 err="1"/>
              <a:t>Verius</a:t>
            </a:r>
            <a:r>
              <a:rPr lang="nl-NL" sz="1400" dirty="0"/>
              <a:t> Samen </a:t>
            </a:r>
            <a:br>
              <a:rPr lang="nl-NL" sz="1400" dirty="0"/>
            </a:br>
            <a:r>
              <a:rPr lang="nl-NL" sz="1400" dirty="0"/>
              <a:t>UX design</a:t>
            </a:r>
          </a:p>
        </p:txBody>
      </p:sp>
      <p:cxnSp>
        <p:nvCxnSpPr>
          <p:cNvPr id="9" name="Gebogen verbindingslijn 8">
            <a:extLst>
              <a:ext uri="{FF2B5EF4-FFF2-40B4-BE49-F238E27FC236}">
                <a16:creationId xmlns:a16="http://schemas.microsoft.com/office/drawing/2014/main" id="{C5442B7E-41F3-10E9-2C2E-7C7B57D5BC40}"/>
              </a:ext>
            </a:extLst>
          </p:cNvPr>
          <p:cNvCxnSpPr>
            <a:cxnSpLocks/>
            <a:stCxn id="7" idx="6"/>
            <a:endCxn id="4" idx="0"/>
          </p:cNvCxnSpPr>
          <p:nvPr/>
        </p:nvCxnSpPr>
        <p:spPr>
          <a:xfrm>
            <a:off x="2509284" y="1121735"/>
            <a:ext cx="4374740" cy="330930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ebogen verbindingslijn 9">
            <a:extLst>
              <a:ext uri="{FF2B5EF4-FFF2-40B4-BE49-F238E27FC236}">
                <a16:creationId xmlns:a16="http://schemas.microsoft.com/office/drawing/2014/main" id="{DD876116-6E09-A2BD-9BA5-3008C67EC9FE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7671834" y="4764584"/>
            <a:ext cx="1779975" cy="1127798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ebogen verbindingslijn 12">
            <a:extLst>
              <a:ext uri="{FF2B5EF4-FFF2-40B4-BE49-F238E27FC236}">
                <a16:creationId xmlns:a16="http://schemas.microsoft.com/office/drawing/2014/main" id="{1C4ED47A-3C61-2881-396A-580C35E29AD3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rot="16200000" flipH="1">
            <a:off x="10009260" y="5328480"/>
            <a:ext cx="460717" cy="3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chthoek 19">
            <a:extLst>
              <a:ext uri="{FF2B5EF4-FFF2-40B4-BE49-F238E27FC236}">
                <a16:creationId xmlns:a16="http://schemas.microsoft.com/office/drawing/2014/main" id="{7632DE8B-D7F3-FF8D-AE77-DD7A8FD85374}"/>
              </a:ext>
            </a:extLst>
          </p:cNvPr>
          <p:cNvSpPr/>
          <p:nvPr/>
        </p:nvSpPr>
        <p:spPr>
          <a:xfrm>
            <a:off x="2738939" y="5558840"/>
            <a:ext cx="1575621" cy="667081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solidFill>
                  <a:schemeClr val="tx2"/>
                </a:solidFill>
              </a:rPr>
              <a:t>WIZ</a:t>
            </a:r>
          </a:p>
        </p:txBody>
      </p:sp>
      <p:sp>
        <p:nvSpPr>
          <p:cNvPr id="21" name="Rechthoek 20">
            <a:extLst>
              <a:ext uri="{FF2B5EF4-FFF2-40B4-BE49-F238E27FC236}">
                <a16:creationId xmlns:a16="http://schemas.microsoft.com/office/drawing/2014/main" id="{905C4EB0-0EAC-0EEC-3C3B-8A45B4EEDC74}"/>
              </a:ext>
            </a:extLst>
          </p:cNvPr>
          <p:cNvSpPr/>
          <p:nvPr/>
        </p:nvSpPr>
        <p:spPr>
          <a:xfrm>
            <a:off x="2740619" y="4431043"/>
            <a:ext cx="1575621" cy="667081"/>
          </a:xfrm>
          <a:prstGeom prst="rect">
            <a:avLst/>
          </a:prstGeom>
          <a:ln/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sz="1400" dirty="0">
                <a:solidFill>
                  <a:schemeClr val="tx2"/>
                </a:solidFill>
              </a:rPr>
              <a:t>Inwonerportaal</a:t>
            </a:r>
          </a:p>
          <a:p>
            <a:pPr algn="ctr"/>
            <a:r>
              <a:rPr lang="nl-NL" sz="1400" dirty="0">
                <a:solidFill>
                  <a:schemeClr val="tx2"/>
                </a:solidFill>
              </a:rPr>
              <a:t>WIZ</a:t>
            </a:r>
          </a:p>
        </p:txBody>
      </p:sp>
      <p:cxnSp>
        <p:nvCxnSpPr>
          <p:cNvPr id="22" name="Gebogen verbindingslijn 21">
            <a:extLst>
              <a:ext uri="{FF2B5EF4-FFF2-40B4-BE49-F238E27FC236}">
                <a16:creationId xmlns:a16="http://schemas.microsoft.com/office/drawing/2014/main" id="{F1717AC6-9D38-534B-0518-B9C166AD4898}"/>
              </a:ext>
            </a:extLst>
          </p:cNvPr>
          <p:cNvCxnSpPr>
            <a:cxnSpLocks/>
            <a:stCxn id="21" idx="2"/>
            <a:endCxn id="20" idx="0"/>
          </p:cNvCxnSpPr>
          <p:nvPr/>
        </p:nvCxnSpPr>
        <p:spPr>
          <a:xfrm rot="5400000">
            <a:off x="3297232" y="5327642"/>
            <a:ext cx="460716" cy="168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Gebogen verbindingslijn 24">
            <a:extLst>
              <a:ext uri="{FF2B5EF4-FFF2-40B4-BE49-F238E27FC236}">
                <a16:creationId xmlns:a16="http://schemas.microsoft.com/office/drawing/2014/main" id="{10A5E5E9-3D25-9E10-473D-00372970F08D}"/>
              </a:ext>
            </a:extLst>
          </p:cNvPr>
          <p:cNvCxnSpPr>
            <a:cxnSpLocks/>
            <a:stCxn id="4" idx="2"/>
            <a:endCxn id="20" idx="1"/>
          </p:cNvCxnSpPr>
          <p:nvPr/>
        </p:nvCxnSpPr>
        <p:spPr>
          <a:xfrm rot="5400000">
            <a:off x="4414354" y="3422710"/>
            <a:ext cx="794257" cy="4145085"/>
          </a:xfrm>
          <a:prstGeom prst="bentConnector4">
            <a:avLst>
              <a:gd name="adj1" fmla="val 179168"/>
              <a:gd name="adj2" fmla="val 105515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ebogen verbindingslijn 30">
            <a:extLst>
              <a:ext uri="{FF2B5EF4-FFF2-40B4-BE49-F238E27FC236}">
                <a16:creationId xmlns:a16="http://schemas.microsoft.com/office/drawing/2014/main" id="{0AD83318-EFC3-688C-09BB-11C443597D1F}"/>
              </a:ext>
            </a:extLst>
          </p:cNvPr>
          <p:cNvCxnSpPr>
            <a:cxnSpLocks/>
            <a:stCxn id="4" idx="1"/>
            <a:endCxn id="20" idx="3"/>
          </p:cNvCxnSpPr>
          <p:nvPr/>
        </p:nvCxnSpPr>
        <p:spPr>
          <a:xfrm rot="10800000" flipV="1">
            <a:off x="4314561" y="4764583"/>
            <a:ext cx="1781653" cy="1127797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kstvak 42">
            <a:extLst>
              <a:ext uri="{FF2B5EF4-FFF2-40B4-BE49-F238E27FC236}">
                <a16:creationId xmlns:a16="http://schemas.microsoft.com/office/drawing/2014/main" id="{E687E372-9135-307F-A305-13B88AD7693B}"/>
              </a:ext>
            </a:extLst>
          </p:cNvPr>
          <p:cNvSpPr txBox="1"/>
          <p:nvPr/>
        </p:nvSpPr>
        <p:spPr>
          <a:xfrm>
            <a:off x="2654055" y="1184599"/>
            <a:ext cx="39108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i="1" dirty="0"/>
              <a:t>Het ontwerp van het nieuwe </a:t>
            </a:r>
            <a:r>
              <a:rPr lang="nl-NL" sz="1200" i="1" dirty="0" err="1"/>
              <a:t>Verius</a:t>
            </a:r>
            <a:r>
              <a:rPr lang="nl-NL" sz="1200" i="1" dirty="0"/>
              <a:t> Samen inwonerportaal is bijna afgerond. Het dekt daarmee de functionaliteit van de bestaande inwonerportalen af en is in de nieuwe stijl. Aanbeveling is om deze UX-designs zo mogelijk van toepassing te verklaren.</a:t>
            </a:r>
          </a:p>
          <a:p>
            <a:endParaRPr lang="nl-NL" sz="1200" i="1" dirty="0"/>
          </a:p>
        </p:txBody>
      </p:sp>
      <p:sp>
        <p:nvSpPr>
          <p:cNvPr id="44" name="Tekstvak 43">
            <a:extLst>
              <a:ext uri="{FF2B5EF4-FFF2-40B4-BE49-F238E27FC236}">
                <a16:creationId xmlns:a16="http://schemas.microsoft.com/office/drawing/2014/main" id="{B0676ADF-0C35-FC1A-7EDB-765B2806B827}"/>
              </a:ext>
            </a:extLst>
          </p:cNvPr>
          <p:cNvSpPr txBox="1"/>
          <p:nvPr/>
        </p:nvSpPr>
        <p:spPr>
          <a:xfrm>
            <a:off x="7711590" y="4010136"/>
            <a:ext cx="1625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i="1" dirty="0"/>
              <a:t>De functionaliteit van IP-VS moet die van IP-XW afdekken.</a:t>
            </a:r>
          </a:p>
        </p:txBody>
      </p:sp>
      <p:sp>
        <p:nvSpPr>
          <p:cNvPr id="45" name="Tekstvak 44">
            <a:extLst>
              <a:ext uri="{FF2B5EF4-FFF2-40B4-BE49-F238E27FC236}">
                <a16:creationId xmlns:a16="http://schemas.microsoft.com/office/drawing/2014/main" id="{4E7FE32D-4AFE-36B6-FECF-08B11020C9AC}"/>
              </a:ext>
            </a:extLst>
          </p:cNvPr>
          <p:cNvSpPr txBox="1"/>
          <p:nvPr/>
        </p:nvSpPr>
        <p:spPr>
          <a:xfrm>
            <a:off x="4520167" y="4025445"/>
            <a:ext cx="15756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i="1" dirty="0"/>
              <a:t>De functionaliteit van IP-VS moet die van WIZ afdekken.</a:t>
            </a:r>
          </a:p>
        </p:txBody>
      </p:sp>
      <p:sp>
        <p:nvSpPr>
          <p:cNvPr id="46" name="Tekstvak 45">
            <a:extLst>
              <a:ext uri="{FF2B5EF4-FFF2-40B4-BE49-F238E27FC236}">
                <a16:creationId xmlns:a16="http://schemas.microsoft.com/office/drawing/2014/main" id="{D8F02064-EAD6-B688-E0FA-E46A89939BA1}"/>
              </a:ext>
            </a:extLst>
          </p:cNvPr>
          <p:cNvSpPr txBox="1"/>
          <p:nvPr/>
        </p:nvSpPr>
        <p:spPr>
          <a:xfrm>
            <a:off x="6856499" y="6027003"/>
            <a:ext cx="19391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i="1" dirty="0"/>
              <a:t>Vanuit het IP-VS moeten aanvraagformulieren richting WIZ gestuurd kunnen worden.</a:t>
            </a:r>
          </a:p>
        </p:txBody>
      </p:sp>
      <p:sp>
        <p:nvSpPr>
          <p:cNvPr id="47" name="Rechthoek 46">
            <a:extLst>
              <a:ext uri="{FF2B5EF4-FFF2-40B4-BE49-F238E27FC236}">
                <a16:creationId xmlns:a16="http://schemas.microsoft.com/office/drawing/2014/main" id="{DF271863-E8F5-E347-EE04-C6C9DD4E9B00}"/>
              </a:ext>
            </a:extLst>
          </p:cNvPr>
          <p:cNvSpPr/>
          <p:nvPr/>
        </p:nvSpPr>
        <p:spPr>
          <a:xfrm>
            <a:off x="7042452" y="1062251"/>
            <a:ext cx="2222205" cy="1031358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l-NL" sz="1400" dirty="0" err="1">
                <a:solidFill>
                  <a:schemeClr val="tx2"/>
                </a:solidFill>
              </a:rPr>
              <a:t>Digid</a:t>
            </a:r>
            <a:endParaRPr lang="nl-NL" sz="1400" dirty="0">
              <a:solidFill>
                <a:schemeClr val="tx2"/>
              </a:solidFill>
            </a:endParaRPr>
          </a:p>
        </p:txBody>
      </p:sp>
      <p:cxnSp>
        <p:nvCxnSpPr>
          <p:cNvPr id="48" name="Gebogen verbindingslijn 47">
            <a:extLst>
              <a:ext uri="{FF2B5EF4-FFF2-40B4-BE49-F238E27FC236}">
                <a16:creationId xmlns:a16="http://schemas.microsoft.com/office/drawing/2014/main" id="{C84ED8E8-DB77-DCB3-0D27-F6E003F23C61}"/>
              </a:ext>
            </a:extLst>
          </p:cNvPr>
          <p:cNvCxnSpPr>
            <a:cxnSpLocks/>
            <a:stCxn id="4" idx="0"/>
            <a:endCxn id="47" idx="2"/>
          </p:cNvCxnSpPr>
          <p:nvPr/>
        </p:nvCxnSpPr>
        <p:spPr>
          <a:xfrm rot="5400000" flipH="1" flipV="1">
            <a:off x="6350072" y="2627561"/>
            <a:ext cx="2337434" cy="1269531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Tekstvak 86">
            <a:extLst>
              <a:ext uri="{FF2B5EF4-FFF2-40B4-BE49-F238E27FC236}">
                <a16:creationId xmlns:a16="http://schemas.microsoft.com/office/drawing/2014/main" id="{47121AA5-3D8E-EFEE-FB57-6BFFC4AA0FAA}"/>
              </a:ext>
            </a:extLst>
          </p:cNvPr>
          <p:cNvSpPr txBox="1"/>
          <p:nvPr/>
        </p:nvSpPr>
        <p:spPr>
          <a:xfrm>
            <a:off x="3526749" y="780953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#0.</a:t>
            </a:r>
          </a:p>
        </p:txBody>
      </p:sp>
      <p:sp>
        <p:nvSpPr>
          <p:cNvPr id="88" name="Tekstvak 87">
            <a:extLst>
              <a:ext uri="{FF2B5EF4-FFF2-40B4-BE49-F238E27FC236}">
                <a16:creationId xmlns:a16="http://schemas.microsoft.com/office/drawing/2014/main" id="{4043C6B1-EACD-FFF9-27F8-F234BDCAFC33}"/>
              </a:ext>
            </a:extLst>
          </p:cNvPr>
          <p:cNvSpPr txBox="1"/>
          <p:nvPr/>
        </p:nvSpPr>
        <p:spPr>
          <a:xfrm>
            <a:off x="8663998" y="4512607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#1.</a:t>
            </a:r>
          </a:p>
        </p:txBody>
      </p:sp>
      <p:sp>
        <p:nvSpPr>
          <p:cNvPr id="89" name="Tekstvak 88">
            <a:extLst>
              <a:ext uri="{FF2B5EF4-FFF2-40B4-BE49-F238E27FC236}">
                <a16:creationId xmlns:a16="http://schemas.microsoft.com/office/drawing/2014/main" id="{1614F096-3656-02B6-B077-E4AF94D37304}"/>
              </a:ext>
            </a:extLst>
          </p:cNvPr>
          <p:cNvSpPr txBox="1"/>
          <p:nvPr/>
        </p:nvSpPr>
        <p:spPr>
          <a:xfrm>
            <a:off x="8840079" y="2201726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#2.</a:t>
            </a:r>
          </a:p>
        </p:txBody>
      </p:sp>
      <p:sp>
        <p:nvSpPr>
          <p:cNvPr id="90" name="Tekstvak 89">
            <a:extLst>
              <a:ext uri="{FF2B5EF4-FFF2-40B4-BE49-F238E27FC236}">
                <a16:creationId xmlns:a16="http://schemas.microsoft.com/office/drawing/2014/main" id="{B5D3F8D6-0101-C8AA-57D0-E3D57D0936C8}"/>
              </a:ext>
            </a:extLst>
          </p:cNvPr>
          <p:cNvSpPr txBox="1"/>
          <p:nvPr/>
        </p:nvSpPr>
        <p:spPr>
          <a:xfrm>
            <a:off x="6963488" y="5707714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#3.</a:t>
            </a:r>
          </a:p>
        </p:txBody>
      </p:sp>
      <p:sp>
        <p:nvSpPr>
          <p:cNvPr id="91" name="Tekstvak 90">
            <a:extLst>
              <a:ext uri="{FF2B5EF4-FFF2-40B4-BE49-F238E27FC236}">
                <a16:creationId xmlns:a16="http://schemas.microsoft.com/office/drawing/2014/main" id="{5CB65DFA-6175-1D9D-54CD-A468A3BC68E5}"/>
              </a:ext>
            </a:extLst>
          </p:cNvPr>
          <p:cNvSpPr txBox="1"/>
          <p:nvPr/>
        </p:nvSpPr>
        <p:spPr>
          <a:xfrm>
            <a:off x="4112230" y="3911964"/>
            <a:ext cx="497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#5.</a:t>
            </a:r>
          </a:p>
        </p:txBody>
      </p:sp>
      <p:sp>
        <p:nvSpPr>
          <p:cNvPr id="92" name="Tekstvak 91">
            <a:extLst>
              <a:ext uri="{FF2B5EF4-FFF2-40B4-BE49-F238E27FC236}">
                <a16:creationId xmlns:a16="http://schemas.microsoft.com/office/drawing/2014/main" id="{9F157BA8-F8BC-9D31-C2E4-AF351598ADE1}"/>
              </a:ext>
            </a:extLst>
          </p:cNvPr>
          <p:cNvSpPr txBox="1"/>
          <p:nvPr/>
        </p:nvSpPr>
        <p:spPr>
          <a:xfrm>
            <a:off x="9337331" y="2201533"/>
            <a:ext cx="16257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1200" i="1" dirty="0"/>
              <a:t>Ondertekening door individu en ook door partners </a:t>
            </a:r>
            <a:r>
              <a:rPr lang="nl-NL" sz="1200" i="1"/>
              <a:t>afzonderlijk.</a:t>
            </a:r>
            <a:endParaRPr lang="nl-NL" sz="1200" i="1" dirty="0"/>
          </a:p>
        </p:txBody>
      </p:sp>
      <p:pic>
        <p:nvPicPr>
          <p:cNvPr id="3" name="Graphic 2" descr="Lijst silhouet">
            <a:extLst>
              <a:ext uri="{FF2B5EF4-FFF2-40B4-BE49-F238E27FC236}">
                <a16:creationId xmlns:a16="http://schemas.microsoft.com/office/drawing/2014/main" id="{3AA6047D-1CD8-2E7E-B74A-3F27C07237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2260" y="2805126"/>
            <a:ext cx="914400" cy="914400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687065F4-8D5E-4612-D657-9E4AA89D7E2F}"/>
              </a:ext>
            </a:extLst>
          </p:cNvPr>
          <p:cNvSpPr txBox="1"/>
          <p:nvPr/>
        </p:nvSpPr>
        <p:spPr>
          <a:xfrm>
            <a:off x="1345547" y="2842831"/>
            <a:ext cx="10053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/>
              <a:t>#4.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102C3BA3-849B-00D2-6EDB-6CC0EE5331E1}"/>
              </a:ext>
            </a:extLst>
          </p:cNvPr>
          <p:cNvSpPr txBox="1"/>
          <p:nvPr/>
        </p:nvSpPr>
        <p:spPr>
          <a:xfrm>
            <a:off x="1688900" y="2482149"/>
            <a:ext cx="252526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nl-NL" sz="1200" dirty="0"/>
          </a:p>
          <a:p>
            <a:r>
              <a:rPr lang="nl-NL" sz="1200" dirty="0"/>
              <a:t>Er zijn nogal wat bevindingen m.b.t. het bestaande inwonerportaal van X-Works. Het is waardevol een check te doen of deze nog relevant zijn in de nieuwe versie.  </a:t>
            </a:r>
          </a:p>
          <a:p>
            <a:endParaRPr lang="nl-NL" sz="1200" dirty="0"/>
          </a:p>
        </p:txBody>
      </p:sp>
    </p:spTree>
    <p:extLst>
      <p:ext uri="{BB962C8B-B14F-4D97-AF65-F5344CB8AC3E}">
        <p14:creationId xmlns:p14="http://schemas.microsoft.com/office/powerpoint/2010/main" val="2702837709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148</Words>
  <Application>Microsoft Macintosh PowerPoint</Application>
  <PresentationFormat>Breedbeeld</PresentationFormat>
  <Paragraphs>23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Kantoorthema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KJ van der Bent</dc:creator>
  <cp:lastModifiedBy>KJ van der Bent</cp:lastModifiedBy>
  <cp:revision>2</cp:revision>
  <dcterms:created xsi:type="dcterms:W3CDTF">2026-06-24T06:41:35Z</dcterms:created>
  <dcterms:modified xsi:type="dcterms:W3CDTF">2026-06-24T07:11:43Z</dcterms:modified>
</cp:coreProperties>
</file>